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mfortaa" panose="020B0604020202020204" charset="0"/>
      <p:regular r:id="rId16"/>
      <p:bold r:id="rId17"/>
    </p:embeddedFont>
    <p:embeddedFont>
      <p:font typeface="DM Sans Medium" panose="020B0604020202020204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Libre Baskerville" panose="020B0604020202020204" charset="0"/>
      <p:regular r:id="rId26"/>
      <p:bold r:id="rId27"/>
      <p:italic r:id="rId28"/>
    </p:embeddedFont>
    <p:embeddedFont>
      <p:font typeface="Patrick Hand" panose="020B0604020202020204" charset="0"/>
      <p:regular r:id="rId29"/>
    </p:embeddedFont>
    <p:embeddedFont>
      <p:font typeface="Platypi Medium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747775"/>
          </p15:clr>
        </p15:guide>
        <p15:guide id="2" pos="46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qlSD53tCli3JgKANFxj1iICVi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74" y="222"/>
      </p:cViewPr>
      <p:guideLst>
        <p:guide orient="horz" pos="2592"/>
        <p:guide pos="4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21" Type="http://schemas.openxmlformats.org/officeDocument/2006/relationships/font" Target="fonts/font10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2db04647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g32db046479f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2db046479f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db046479f_7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2db046479f_7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2db046479f_7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db046479f_7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2db046479f_7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2db046479f_7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db046479f_7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32db046479f_7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2db046479f_7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1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1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1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1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1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1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2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db046479f_0_0"/>
          <p:cNvSpPr/>
          <p:nvPr/>
        </p:nvSpPr>
        <p:spPr>
          <a:xfrm>
            <a:off x="689471" y="280725"/>
            <a:ext cx="10901400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lang="en-US" sz="215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En un contexto donde los hospitales necesitan optimizar sus costos y mejorar su capacidad operativa, no contar con herramientas predictivas impacta directamente en la calidad de atención brindada.</a:t>
            </a:r>
            <a:endParaRPr/>
          </a:p>
          <a:p>
            <a:pPr marL="0" marR="0" lvl="0" indent="0" algn="l" rtl="0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Calibri"/>
              <a:buNone/>
            </a:pPr>
            <a:endParaRPr sz="2150" b="0" i="0" u="none" strike="noStrike" cap="none">
              <a:solidFill>
                <a:srgbClr val="383838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0" marR="0" lvl="0" indent="0" algn="l" rtl="0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150"/>
              <a:buFont typeface="Patrick Hand"/>
              <a:buNone/>
            </a:pPr>
            <a:r>
              <a:rPr lang="en-US" sz="215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Atendiendo esta necesidad, nos presentamos. Somos: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2db046479f_0_0"/>
          <p:cNvSpPr/>
          <p:nvPr/>
        </p:nvSpPr>
        <p:spPr>
          <a:xfrm>
            <a:off x="798961" y="6592637"/>
            <a:ext cx="2564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700"/>
              <a:buFont typeface="Patrick Hand"/>
              <a:buNone/>
            </a:pPr>
            <a:r>
              <a:rPr lang="en-US" sz="2700" b="1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Pablo Luberriaga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2db046479f_0_0"/>
          <p:cNvSpPr/>
          <p:nvPr/>
        </p:nvSpPr>
        <p:spPr>
          <a:xfrm>
            <a:off x="5122773" y="6592636"/>
            <a:ext cx="2564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700"/>
              <a:buFont typeface="Patrick Hand"/>
              <a:buNone/>
            </a:pPr>
            <a:r>
              <a:rPr lang="en-US" sz="2700" b="1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Estefania Garrido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2db046479f_0_0"/>
          <p:cNvSpPr/>
          <p:nvPr/>
        </p:nvSpPr>
        <p:spPr>
          <a:xfrm>
            <a:off x="9646090" y="6570333"/>
            <a:ext cx="2564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700"/>
              <a:buFont typeface="Patrick Hand"/>
              <a:buNone/>
            </a:pPr>
            <a:r>
              <a:rPr lang="en-US" sz="2700" b="1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Saúl Cova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g32db046479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961" y="3719700"/>
            <a:ext cx="2692769" cy="2692769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7" name="Google Shape;57;g32db046479f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2773" y="3719699"/>
            <a:ext cx="2692769" cy="2692769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8" name="Google Shape;58;g32db046479f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6163" y="3719698"/>
            <a:ext cx="2692770" cy="2692770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9" name="Google Shape;59;g32db046479f_0_0"/>
          <p:cNvSpPr/>
          <p:nvPr/>
        </p:nvSpPr>
        <p:spPr>
          <a:xfrm>
            <a:off x="12605550" y="76239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g32db046479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334190" flipH="1">
            <a:off x="11327999" y="317425"/>
            <a:ext cx="2980050" cy="339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/>
          <p:nvPr/>
        </p:nvSpPr>
        <p:spPr>
          <a:xfrm>
            <a:off x="12592275" y="75552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94150" y="0"/>
            <a:ext cx="14591700" cy="3963000"/>
          </a:xfrm>
          <a:prstGeom prst="rect">
            <a:avLst/>
          </a:prstGeom>
          <a:solidFill>
            <a:srgbClr val="D54A4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6784960" y="4114800"/>
            <a:ext cx="1060500" cy="1350900"/>
          </a:xfrm>
          <a:prstGeom prst="roundRect">
            <a:avLst>
              <a:gd name="adj" fmla="val 14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D54A4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</a:t>
            </a:r>
            <a:endParaRPr>
              <a:solidFill>
                <a:srgbClr val="D54A43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D54A4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</a:t>
            </a:r>
            <a:endParaRPr>
              <a:solidFill>
                <a:srgbClr val="D54A43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D54A4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ZO</a:t>
            </a:r>
            <a:endParaRPr>
              <a:solidFill>
                <a:srgbClr val="D54A43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1"/>
          <p:cNvGrpSpPr/>
          <p:nvPr/>
        </p:nvGrpSpPr>
        <p:grpSpPr>
          <a:xfrm>
            <a:off x="6615700" y="1981500"/>
            <a:ext cx="1548600" cy="3963000"/>
            <a:chOff x="6615700" y="1981500"/>
            <a:chExt cx="1548600" cy="3963000"/>
          </a:xfrm>
        </p:grpSpPr>
        <p:sp>
          <p:nvSpPr>
            <p:cNvPr id="70" name="Google Shape;70;p1"/>
            <p:cNvSpPr/>
            <p:nvPr/>
          </p:nvSpPr>
          <p:spPr>
            <a:xfrm rot="-5400000">
              <a:off x="6399250" y="2197950"/>
              <a:ext cx="1981500" cy="1548600"/>
            </a:xfrm>
            <a:prstGeom prst="flowChartDelay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 rot="5400000">
              <a:off x="6399250" y="4179450"/>
              <a:ext cx="1981500" cy="1548600"/>
            </a:xfrm>
            <a:prstGeom prst="flowChartDelay">
              <a:avLst/>
            </a:prstGeom>
            <a:solidFill>
              <a:srgbClr val="D54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dk1"/>
                </a:highlight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859760" y="2429400"/>
              <a:ext cx="1060500" cy="1350900"/>
            </a:xfrm>
            <a:prstGeom prst="roundRect">
              <a:avLst>
                <a:gd name="adj" fmla="val 142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rgbClr val="D54A4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</a:t>
              </a:r>
              <a:endParaRPr>
                <a:solidFill>
                  <a:srgbClr val="D54A43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rgbClr val="D54A4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RA</a:t>
              </a:r>
              <a:endParaRPr>
                <a:solidFill>
                  <a:srgbClr val="D54A43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rgbClr val="D54A4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ZO</a:t>
              </a:r>
              <a:endParaRPr>
                <a:solidFill>
                  <a:srgbClr val="D54A43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861160" y="4278300"/>
              <a:ext cx="1060500" cy="1350900"/>
            </a:xfrm>
            <a:prstGeom prst="roundRect">
              <a:avLst>
                <a:gd name="adj" fmla="val 1420"/>
              </a:avLst>
            </a:prstGeom>
            <a:solidFill>
              <a:srgbClr val="D54A4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NA</a:t>
              </a:r>
              <a:endPara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DA</a:t>
              </a:r>
              <a:endPara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D54A43"/>
                </a:highlight>
              </a:endParaRPr>
            </a:p>
          </p:txBody>
        </p:sp>
      </p:grpSp>
      <p:sp>
        <p:nvSpPr>
          <p:cNvPr id="74" name="Google Shape;74;p1"/>
          <p:cNvSpPr/>
          <p:nvPr/>
        </p:nvSpPr>
        <p:spPr>
          <a:xfrm>
            <a:off x="1636650" y="363888"/>
            <a:ext cx="11509500" cy="17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b="1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 SUS    </a:t>
            </a:r>
            <a:r>
              <a:rPr lang="en-US" sz="2800" b="1">
                <a:solidFill>
                  <a:schemeClr val="lt1"/>
                </a:solidFill>
                <a:highlight>
                  <a:srgbClr val="6495ED"/>
                </a:highlight>
                <a:latin typeface="Libre Baskerville"/>
                <a:ea typeface="Libre Baskerville"/>
                <a:cs typeface="Libre Baskerville"/>
                <a:sym typeface="Libre Baskerville"/>
              </a:rPr>
              <a:t>ALTAS  MÉDICAS</a:t>
            </a:r>
            <a:r>
              <a:rPr lang="en-US" sz="2800" b="1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NO SEAN  SOLO UNA  …</a:t>
            </a:r>
            <a:endParaRPr sz="25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3991050" y="6577200"/>
            <a:ext cx="6800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highlight>
                  <a:srgbClr val="6495ED"/>
                </a:highlight>
                <a:latin typeface="Libre Baskerville"/>
                <a:ea typeface="Libre Baskerville"/>
                <a:cs typeface="Libre Baskerville"/>
                <a:sym typeface="Libre Baskerville"/>
              </a:rPr>
              <a:t>PREDICCIONES MÉDICAS BASADAS EN DATOS</a:t>
            </a:r>
            <a:endParaRPr sz="2800" b="1">
              <a:solidFill>
                <a:schemeClr val="lt1"/>
              </a:solidFill>
              <a:highlight>
                <a:srgbClr val="6495ED"/>
              </a:highlight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db046479f_7_11"/>
          <p:cNvSpPr/>
          <p:nvPr/>
        </p:nvSpPr>
        <p:spPr>
          <a:xfrm>
            <a:off x="789928" y="701962"/>
            <a:ext cx="9994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El </a:t>
            </a:r>
            <a:r>
              <a:rPr lang="en-US" sz="4450" b="0" i="0" u="none" strike="noStrike" cap="none" dirty="0" err="1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Problema</a:t>
            </a:r>
            <a:r>
              <a:rPr lang="en-US" sz="44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de las </a:t>
            </a:r>
            <a:r>
              <a:rPr lang="en-US" sz="4450" b="0" i="0" u="none" strike="noStrike" cap="none" dirty="0" err="1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Altas</a:t>
            </a:r>
            <a:r>
              <a:rPr lang="en-US" sz="445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</a:t>
            </a:r>
            <a:r>
              <a:rPr lang="en-US" sz="4450" b="0" i="0" u="none" strike="noStrike" cap="none" dirty="0" err="1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Incorrectas</a:t>
            </a:r>
            <a:endParaRPr sz="4450" b="0" i="0" u="none" strike="noStrike" cap="none" dirty="0"/>
          </a:p>
        </p:txBody>
      </p:sp>
      <p:sp>
        <p:nvSpPr>
          <p:cNvPr id="82" name="Google Shape;82;g32db046479f_7_11"/>
          <p:cNvSpPr/>
          <p:nvPr/>
        </p:nvSpPr>
        <p:spPr>
          <a:xfrm>
            <a:off x="789940" y="2910841"/>
            <a:ext cx="3356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Reingresos Innecesarios</a:t>
            </a:r>
            <a:endParaRPr sz="2200" b="0" i="0" u="none" strike="noStrike" cap="none"/>
          </a:p>
        </p:txBody>
      </p:sp>
      <p:sp>
        <p:nvSpPr>
          <p:cNvPr id="83" name="Google Shape;83;g32db046479f_7_11"/>
          <p:cNvSpPr/>
          <p:nvPr/>
        </p:nvSpPr>
        <p:spPr>
          <a:xfrm>
            <a:off x="789940" y="3491985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El 20% de las altas mal dadas resultan en reingresos hospitalarios.</a:t>
            </a:r>
            <a:endParaRPr sz="1750" b="0" i="0" u="none" strike="noStrike" cap="none"/>
          </a:p>
        </p:txBody>
      </p:sp>
      <p:sp>
        <p:nvSpPr>
          <p:cNvPr id="84" name="Google Shape;84;g32db046479f_7_11"/>
          <p:cNvSpPr/>
          <p:nvPr/>
        </p:nvSpPr>
        <p:spPr>
          <a:xfrm>
            <a:off x="7595671" y="2733691"/>
            <a:ext cx="3112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 b="0" i="0" u="none" strike="noStrike" cap="none" dirty="0" err="1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Consecuencias</a:t>
            </a:r>
            <a:r>
              <a:rPr lang="en-US" sz="2200" b="0" i="0" u="none" strike="noStrike" cap="none" dirty="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Fatales</a:t>
            </a:r>
            <a:endParaRPr sz="2200" b="0" i="0" u="none" strike="noStrike" cap="none" dirty="0"/>
          </a:p>
        </p:txBody>
      </p:sp>
      <p:sp>
        <p:nvSpPr>
          <p:cNvPr id="85" name="Google Shape;85;g32db046479f_7_11"/>
          <p:cNvSpPr/>
          <p:nvPr/>
        </p:nvSpPr>
        <p:spPr>
          <a:xfrm>
            <a:off x="7595671" y="3491985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5 de </a:t>
            </a:r>
            <a:r>
              <a:rPr lang="en-US" sz="1750" b="0" i="0" u="none" strike="noStrike" cap="none" dirty="0" err="1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1750" b="0" i="0" u="none" strike="noStrike" cap="none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100 </a:t>
            </a:r>
            <a:r>
              <a:rPr lang="en-US" sz="1750" b="0" i="0" u="none" strike="noStrike" cap="none" dirty="0" err="1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pacientes</a:t>
            </a:r>
            <a:r>
              <a:rPr lang="en-US" sz="1750" b="0" i="0" u="none" strike="noStrike" cap="none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50" b="0" i="0" u="none" strike="noStrike" cap="none" dirty="0" err="1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reingresados</a:t>
            </a:r>
            <a:r>
              <a:rPr lang="en-US" sz="1750" b="0" i="0" u="none" strike="noStrike" cap="none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50" b="0" i="0" u="none" strike="noStrike" cap="none" dirty="0" err="1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fallecen</a:t>
            </a:r>
            <a:r>
              <a:rPr lang="en-US" sz="1750" b="0" i="0" u="none" strike="noStrike" cap="none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50" b="0" i="0" u="none" strike="noStrike" cap="none" dirty="0"/>
          </a:p>
        </p:txBody>
      </p:sp>
      <p:pic>
        <p:nvPicPr>
          <p:cNvPr id="86" name="Google Shape;86;g32db046479f_7_11"/>
          <p:cNvPicPr preferRelativeResize="0"/>
          <p:nvPr/>
        </p:nvPicPr>
        <p:blipFill rotWithShape="1">
          <a:blip r:embed="rId3">
            <a:alphaModFix/>
          </a:blip>
          <a:srcRect t="41960" r="714" b="21816"/>
          <a:stretch/>
        </p:blipFill>
        <p:spPr>
          <a:xfrm>
            <a:off x="0" y="5717675"/>
            <a:ext cx="14630399" cy="2482676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db046479f_7_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2db046479f_7_20"/>
          <p:cNvSpPr/>
          <p:nvPr/>
        </p:nvSpPr>
        <p:spPr>
          <a:xfrm>
            <a:off x="6280190" y="1194554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Potenciando el Juicio Médico con Datos</a:t>
            </a:r>
            <a:endParaRPr sz="4450" b="0" i="0" u="none" strike="noStrike" cap="none"/>
          </a:p>
        </p:txBody>
      </p:sp>
      <p:pic>
        <p:nvPicPr>
          <p:cNvPr id="94" name="Google Shape;94;g32db046479f_7_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0190" y="295227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2db046479f_7_20"/>
          <p:cNvSpPr/>
          <p:nvPr/>
        </p:nvSpPr>
        <p:spPr>
          <a:xfrm>
            <a:off x="7754422" y="317908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Experiencia Médica</a:t>
            </a:r>
            <a:endParaRPr sz="2200" b="0" i="0" u="none" strike="noStrike" cap="none"/>
          </a:p>
        </p:txBody>
      </p:sp>
      <p:sp>
        <p:nvSpPr>
          <p:cNvPr id="96" name="Google Shape;96;g32db046479f_7_20"/>
          <p:cNvSpPr/>
          <p:nvPr/>
        </p:nvSpPr>
        <p:spPr>
          <a:xfrm>
            <a:off x="7754422" y="3669506"/>
            <a:ext cx="60822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El juicio médico es irremplazable.</a:t>
            </a:r>
            <a:endParaRPr sz="1750" b="0" i="0" u="none" strike="noStrike" cap="none"/>
          </a:p>
        </p:txBody>
      </p:sp>
      <p:pic>
        <p:nvPicPr>
          <p:cNvPr id="97" name="Google Shape;97;g32db046479f_7_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0190" y="431315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2db046479f_7_20"/>
          <p:cNvSpPr/>
          <p:nvPr/>
        </p:nvSpPr>
        <p:spPr>
          <a:xfrm>
            <a:off x="7754422" y="4254834"/>
            <a:ext cx="35292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Herramientas Predictivas</a:t>
            </a:r>
            <a:endParaRPr sz="2200" b="0" i="0" u="none" strike="noStrike" cap="none"/>
          </a:p>
        </p:txBody>
      </p:sp>
      <p:sp>
        <p:nvSpPr>
          <p:cNvPr id="99" name="Google Shape;99;g32db046479f_7_20"/>
          <p:cNvSpPr/>
          <p:nvPr/>
        </p:nvSpPr>
        <p:spPr>
          <a:xfrm>
            <a:off x="7754422" y="5030391"/>
            <a:ext cx="60822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Reducen la variabilidad en los diagnósticos.</a:t>
            </a:r>
            <a:endParaRPr sz="1750" b="0" i="0" u="none" strike="noStrike" cap="none"/>
          </a:p>
        </p:txBody>
      </p:sp>
      <p:pic>
        <p:nvPicPr>
          <p:cNvPr id="100" name="Google Shape;100;g32db046479f_7_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190" y="567404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2db046479f_7_20"/>
          <p:cNvSpPr/>
          <p:nvPr/>
        </p:nvSpPr>
        <p:spPr>
          <a:xfrm>
            <a:off x="7754422" y="590085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Altas Planificadas</a:t>
            </a:r>
            <a:endParaRPr sz="2200" b="0" i="0" u="none" strike="noStrike" cap="none"/>
          </a:p>
        </p:txBody>
      </p:sp>
      <p:sp>
        <p:nvSpPr>
          <p:cNvPr id="102" name="Google Shape;102;g32db046479f_7_20"/>
          <p:cNvSpPr/>
          <p:nvPr/>
        </p:nvSpPr>
        <p:spPr>
          <a:xfrm>
            <a:off x="7754422" y="6391275"/>
            <a:ext cx="60822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Evitan reingresos y mejoran la atención.</a:t>
            </a:r>
            <a:endParaRPr sz="1750" b="0" i="0" u="none" strike="noStrike" cap="none"/>
          </a:p>
        </p:txBody>
      </p:sp>
      <p:sp>
        <p:nvSpPr>
          <p:cNvPr id="103" name="Google Shape;103;g32db046479f_7_20"/>
          <p:cNvSpPr/>
          <p:nvPr/>
        </p:nvSpPr>
        <p:spPr>
          <a:xfrm>
            <a:off x="12592275" y="75552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793790" y="2154317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lang="en-US" sz="44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Nuestro MVP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141140" y="3813699"/>
            <a:ext cx="4196400" cy="2758500"/>
          </a:xfrm>
          <a:prstGeom prst="roundRect">
            <a:avLst>
              <a:gd name="adj" fmla="val 123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367879" y="404051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Predicción precisa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367875" y="4394849"/>
            <a:ext cx="3742800" cy="20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Nuestro modelo de inteligencia artificial predice el alta hospitalaria al ingresar el paciente con precisión del 95%  utilizando datos clínicos y demográficos.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974551" y="3813700"/>
            <a:ext cx="4743300" cy="2758500"/>
          </a:xfrm>
          <a:prstGeom prst="roundRect">
            <a:avLst>
              <a:gd name="adj" fmla="val 1233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201361" y="4040513"/>
            <a:ext cx="34074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Uso eficiente de recursos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132611" y="4528957"/>
            <a:ext cx="3742800" cy="14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Maximiza el uso de recursos médicos y minimiza el desperdicio, optimizando la gestión hospitalaria.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>
            <a:off x="9941525" y="311349"/>
            <a:ext cx="4464650" cy="2758500"/>
            <a:chOff x="9791200" y="3316724"/>
            <a:chExt cx="4464650" cy="2758500"/>
          </a:xfrm>
        </p:grpSpPr>
        <p:pic>
          <p:nvPicPr>
            <p:cNvPr id="117" name="Google Shape;117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91200" y="3316724"/>
              <a:ext cx="4464650" cy="275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3"/>
            <p:cNvPicPr preferRelativeResize="0"/>
            <p:nvPr/>
          </p:nvPicPr>
          <p:blipFill rotWithShape="1">
            <a:blip r:embed="rId4">
              <a:alphaModFix/>
            </a:blip>
            <a:srcRect l="12810" r="15381"/>
            <a:stretch/>
          </p:blipFill>
          <p:spPr>
            <a:xfrm rot="371950">
              <a:off x="13021207" y="3730503"/>
              <a:ext cx="867086" cy="1030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3"/>
            <p:cNvPicPr preferRelativeResize="0"/>
            <p:nvPr/>
          </p:nvPicPr>
          <p:blipFill rotWithShape="1">
            <a:blip r:embed="rId5">
              <a:alphaModFix/>
            </a:blip>
            <a:srcRect l="2770" r="-1701" b="29198"/>
            <a:stretch/>
          </p:blipFill>
          <p:spPr>
            <a:xfrm rot="316794">
              <a:off x="12922589" y="4751213"/>
              <a:ext cx="881047" cy="931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3"/>
          <p:cNvSpPr/>
          <p:nvPr/>
        </p:nvSpPr>
        <p:spPr>
          <a:xfrm>
            <a:off x="12592275" y="75552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323315" y="472560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lang="en-US" sz="44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Beneficios Clave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23315" y="1776652"/>
            <a:ext cx="510300" cy="510300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22625" y="1861663"/>
            <a:ext cx="111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50"/>
              <a:buFont typeface="DM Sans Medium"/>
              <a:buNone/>
            </a:pPr>
            <a:r>
              <a:rPr lang="en-US" sz="26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60431" y="177665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Mejor Planificación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60431" y="2267070"/>
            <a:ext cx="34593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Optimiza la gestión de camas y recursos.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46487" y="1776652"/>
            <a:ext cx="510300" cy="510300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903411" y="1861663"/>
            <a:ext cx="19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50"/>
              <a:buFont typeface="DM Sans Medium"/>
              <a:buNone/>
            </a:pPr>
            <a:r>
              <a:rPr lang="en-US" sz="26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3603" y="1776652"/>
            <a:ext cx="28401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Reducción de Costos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3603" y="2267070"/>
            <a:ext cx="34593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Disminuye hospitalizaciones innecesarias.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169658" y="1776652"/>
            <a:ext cx="510300" cy="510300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323725" y="1861663"/>
            <a:ext cx="202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50"/>
              <a:buFont typeface="DM Sans Medium"/>
              <a:buNone/>
            </a:pPr>
            <a:r>
              <a:rPr lang="en-US" sz="26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9906774" y="177665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Mayor Seguridad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906774" y="2267070"/>
            <a:ext cx="34593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Minimiza riesgos de complicaciones en pacientes.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72701" y="3654228"/>
            <a:ext cx="101616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lang="en-US" sz="44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Impacto en Diferentes</a:t>
            </a:r>
            <a:r>
              <a:rPr lang="en-US" sz="430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44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Ámbitos</a:t>
            </a:r>
            <a:endParaRPr sz="4300" b="0" i="0" u="none" strike="noStrike" cap="none"/>
          </a:p>
        </p:txBody>
      </p:sp>
      <p:sp>
        <p:nvSpPr>
          <p:cNvPr id="140" name="Google Shape;140;p5"/>
          <p:cNvSpPr/>
          <p:nvPr/>
        </p:nvSpPr>
        <p:spPr>
          <a:xfrm>
            <a:off x="272701" y="5466462"/>
            <a:ext cx="796500" cy="618900"/>
          </a:xfrm>
          <a:prstGeom prst="roundRect">
            <a:avLst>
              <a:gd name="adj" fmla="val 24002"/>
            </a:avLst>
          </a:prstGeom>
          <a:solidFill>
            <a:srgbClr val="E6E6E6"/>
          </a:solidFill>
          <a:ln w="152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524335" y="5466462"/>
            <a:ext cx="4467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lang="en-US" sz="2150" b="0" i="0" u="none" strike="noStrike" cap="non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🏥</a:t>
            </a:r>
            <a:r>
              <a:rPr lang="en-US" sz="215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Hospitales y clínicas privada</a:t>
            </a: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endParaRPr sz="2150" b="0" i="0" u="none" strike="noStrike" cap="none"/>
          </a:p>
        </p:txBody>
      </p:sp>
      <p:sp>
        <p:nvSpPr>
          <p:cNvPr id="142" name="Google Shape;142;p5"/>
          <p:cNvSpPr/>
          <p:nvPr/>
        </p:nvSpPr>
        <p:spPr>
          <a:xfrm>
            <a:off x="6446441" y="5466462"/>
            <a:ext cx="796500" cy="618900"/>
          </a:xfrm>
          <a:prstGeom prst="roundRect">
            <a:avLst>
              <a:gd name="adj" fmla="val 24002"/>
            </a:avLst>
          </a:prstGeom>
          <a:solidFill>
            <a:srgbClr val="E6E6E6"/>
          </a:solidFill>
          <a:ln w="152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698074" y="5466462"/>
            <a:ext cx="4467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lang="en-US" sz="2150" b="0" i="0" u="none" strike="noStrike" cap="non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🏦</a:t>
            </a:r>
            <a:r>
              <a:rPr lang="en-US" sz="215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Instituciones</a:t>
            </a:r>
            <a:r>
              <a:rPr lang="en-US" sz="215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públicas de salud</a:t>
            </a:r>
            <a:endParaRPr sz="2150" b="0" i="0" u="none" strike="noStrike" cap="none"/>
          </a:p>
        </p:txBody>
      </p:sp>
      <p:sp>
        <p:nvSpPr>
          <p:cNvPr id="144" name="Google Shape;144;p5"/>
          <p:cNvSpPr/>
          <p:nvPr/>
        </p:nvSpPr>
        <p:spPr>
          <a:xfrm>
            <a:off x="272701" y="7358777"/>
            <a:ext cx="796500" cy="618900"/>
          </a:xfrm>
          <a:prstGeom prst="roundRect">
            <a:avLst>
              <a:gd name="adj" fmla="val 24002"/>
            </a:avLst>
          </a:prstGeom>
          <a:solidFill>
            <a:srgbClr val="E6E6E6"/>
          </a:solidFill>
          <a:ln w="152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524335" y="7358777"/>
            <a:ext cx="10640400" cy="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4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atrick Hand"/>
              <a:buNone/>
            </a:pPr>
            <a:r>
              <a:rPr lang="en-US" sz="2150" b="0" i="0" u="none" strike="noStrike" cap="non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📊</a:t>
            </a:r>
            <a:r>
              <a:rPr lang="en-US" sz="2150" b="0" i="0" u="none" strike="noStrike" cap="none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rPr>
              <a:t> Aseguradoras y reguladores</a:t>
            </a:r>
            <a:endParaRPr sz="2150" b="0" i="0" u="none" strike="noStrike" cap="none"/>
          </a:p>
        </p:txBody>
      </p:sp>
      <p:sp>
        <p:nvSpPr>
          <p:cNvPr id="146" name="Google Shape;146;p5"/>
          <p:cNvSpPr/>
          <p:nvPr/>
        </p:nvSpPr>
        <p:spPr>
          <a:xfrm>
            <a:off x="12439875" y="74790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793790" y="10245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lang="en-US" sz="44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Más Soluciones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93790" y="2186940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020604" y="2413754"/>
            <a:ext cx="341864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Integración Personalizada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020604" y="2904173"/>
            <a:ext cx="595443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Nuestro equipo puede trabajar con su hospital para desarrollar estimaciones de costos adaptadas a su estructura, permitiendo una gestión financiera más eficiente.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428667" y="2186940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7655481" y="24137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Compatibilidad Total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655481" y="2904173"/>
            <a:ext cx="595443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 solución es fácilmente acoplable a los sistemas hospitalarios existentes, asegurando una implementación sin fricciones.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93790" y="4809411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Monitoreo Avanzado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020604" y="5526643"/>
            <a:ext cx="595443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Desarrollo de herramientas para el seguimiento de pacientes con estadías prolongadas, mejorando la planificación y calidad del servicio.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428667" y="4809411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EDEB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655481" y="5036225"/>
            <a:ext cx="347269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Optimización de Servicios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655481" y="5526643"/>
            <a:ext cx="595443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Identificación de focos clave por patología para mejorar la atención y eficiencia hospitalaria, ayudando a los centros de salud a tomar decisiones informadas basadas en datos.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439875" y="74790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793790" y="407955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512849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793790" y="5922288"/>
            <a:ext cx="300549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Transformemos juntos la gestión hospitalaria.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446" y="512849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4139446" y="5922288"/>
            <a:ext cx="3005614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Solicita una demostración de nuestra solución.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85221" y="512849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7485221" y="5922288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Contáctanos para más información.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0997" y="512849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10830997" y="5922288"/>
            <a:ext cx="3005614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lang="en-US" sz="22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Optimiza la gestión hospitalaria con datos inteligentes.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4728" y="583415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Próximos Pasos</a:t>
            </a:r>
            <a:endParaRPr sz="4450" b="0" i="0" u="none" strike="noStrike" cap="none"/>
          </a:p>
        </p:txBody>
      </p:sp>
      <p:sp>
        <p:nvSpPr>
          <p:cNvPr id="181" name="Google Shape;181;p9"/>
          <p:cNvSpPr/>
          <p:nvPr/>
        </p:nvSpPr>
        <p:spPr>
          <a:xfrm>
            <a:off x="644728" y="1632355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Contáctenos para una demostración personalizada. Podemos transformar sus altas médicas en decisiones basadas en datos.</a:t>
            </a:r>
            <a:endParaRPr sz="1750" b="0" i="0" u="none" strike="noStrike" cap="none"/>
          </a:p>
        </p:txBody>
      </p:sp>
      <p:sp>
        <p:nvSpPr>
          <p:cNvPr id="182" name="Google Shape;182;p9"/>
          <p:cNvSpPr/>
          <p:nvPr/>
        </p:nvSpPr>
        <p:spPr>
          <a:xfrm>
            <a:off x="644728" y="2613311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Juntos, podemos optimizar la atención al paciente. Reducimos costos y mejoramos resultados.</a:t>
            </a:r>
            <a:endParaRPr sz="1750" b="0" i="0" u="none" strike="noStrike" cap="none"/>
          </a:p>
        </p:txBody>
      </p:sp>
      <p:grpSp>
        <p:nvGrpSpPr>
          <p:cNvPr id="183" name="Google Shape;183;p9"/>
          <p:cNvGrpSpPr/>
          <p:nvPr/>
        </p:nvGrpSpPr>
        <p:grpSpPr>
          <a:xfrm>
            <a:off x="10987775" y="276025"/>
            <a:ext cx="1548600" cy="3963000"/>
            <a:chOff x="6615700" y="1981500"/>
            <a:chExt cx="1548600" cy="3963000"/>
          </a:xfrm>
        </p:grpSpPr>
        <p:sp>
          <p:nvSpPr>
            <p:cNvPr id="184" name="Google Shape;184;p9"/>
            <p:cNvSpPr/>
            <p:nvPr/>
          </p:nvSpPr>
          <p:spPr>
            <a:xfrm rot="-5400000">
              <a:off x="6399250" y="2197950"/>
              <a:ext cx="1981500" cy="1548600"/>
            </a:xfrm>
            <a:prstGeom prst="flowChartDelay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 rot="5400000">
              <a:off x="6399250" y="4179450"/>
              <a:ext cx="1981500" cy="1548600"/>
            </a:xfrm>
            <a:prstGeom prst="flowChartDelay">
              <a:avLst/>
            </a:prstGeom>
            <a:solidFill>
              <a:srgbClr val="D54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dk1"/>
                </a:highlight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6859760" y="2429400"/>
              <a:ext cx="1060500" cy="1350900"/>
            </a:xfrm>
            <a:prstGeom prst="roundRect">
              <a:avLst>
                <a:gd name="adj" fmla="val 142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rgbClr val="D54A4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</a:t>
              </a:r>
              <a:endParaRPr>
                <a:solidFill>
                  <a:srgbClr val="D54A43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rgbClr val="D54A4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RA</a:t>
              </a:r>
              <a:endParaRPr>
                <a:solidFill>
                  <a:srgbClr val="D54A43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rgbClr val="D54A43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ZO</a:t>
              </a:r>
              <a:endParaRPr>
                <a:solidFill>
                  <a:srgbClr val="D54A43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6861160" y="4278300"/>
              <a:ext cx="1060500" cy="1350900"/>
            </a:xfrm>
            <a:prstGeom prst="roundRect">
              <a:avLst>
                <a:gd name="adj" fmla="val 1420"/>
              </a:avLst>
            </a:prstGeom>
            <a:solidFill>
              <a:srgbClr val="D54A4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NA</a:t>
              </a:r>
              <a:endPara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DA</a:t>
              </a:r>
              <a:endPara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D54A43"/>
                </a:highlight>
              </a:endParaRPr>
            </a:p>
          </p:txBody>
        </p:sp>
      </p:grpSp>
      <p:sp>
        <p:nvSpPr>
          <p:cNvPr id="188" name="Google Shape;188;p9"/>
          <p:cNvSpPr/>
          <p:nvPr/>
        </p:nvSpPr>
        <p:spPr>
          <a:xfrm>
            <a:off x="12605550" y="76239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db046479f_7_53"/>
          <p:cNvSpPr/>
          <p:nvPr/>
        </p:nvSpPr>
        <p:spPr>
          <a:xfrm>
            <a:off x="793790" y="942023"/>
            <a:ext cx="105963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Nuestra Solución: Un Enfoque Integral</a:t>
            </a:r>
            <a:endParaRPr sz="4450" b="0" i="0" u="none" strike="noStrike" cap="none"/>
          </a:p>
        </p:txBody>
      </p:sp>
      <p:sp>
        <p:nvSpPr>
          <p:cNvPr id="195" name="Google Shape;195;g32db046479f_7_53"/>
          <p:cNvSpPr/>
          <p:nvPr/>
        </p:nvSpPr>
        <p:spPr>
          <a:xfrm>
            <a:off x="1857256" y="298346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Análisis de Datos</a:t>
            </a:r>
            <a:endParaRPr sz="2200" b="0" i="0" u="none" strike="noStrike" cap="none"/>
          </a:p>
        </p:txBody>
      </p:sp>
      <p:pic>
        <p:nvPicPr>
          <p:cNvPr id="196" name="Google Shape;196;g32db046479f_7_5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2653" y="2104430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2db046479f_7_53"/>
          <p:cNvSpPr/>
          <p:nvPr/>
        </p:nvSpPr>
        <p:spPr>
          <a:xfrm>
            <a:off x="6332696" y="2852857"/>
            <a:ext cx="127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sz="2200" b="0" i="0" u="none" strike="noStrike" cap="none"/>
          </a:p>
        </p:txBody>
      </p:sp>
      <p:sp>
        <p:nvSpPr>
          <p:cNvPr id="198" name="Google Shape;198;g32db046479f_7_53"/>
          <p:cNvSpPr/>
          <p:nvPr/>
        </p:nvSpPr>
        <p:spPr>
          <a:xfrm>
            <a:off x="9937790" y="298346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Modelos Predictivos</a:t>
            </a:r>
            <a:endParaRPr sz="2200" b="0" i="0" u="none" strike="noStrike" cap="none"/>
          </a:p>
        </p:txBody>
      </p:sp>
      <p:pic>
        <p:nvPicPr>
          <p:cNvPr id="199" name="Google Shape;199;g32db046479f_7_5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2653" y="2104430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2db046479f_7_53"/>
          <p:cNvSpPr/>
          <p:nvPr/>
        </p:nvSpPr>
        <p:spPr>
          <a:xfrm>
            <a:off x="8530709" y="3241358"/>
            <a:ext cx="1830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sz="2200" b="0" i="0" u="none" strike="noStrike" cap="none"/>
          </a:p>
        </p:txBody>
      </p:sp>
      <p:sp>
        <p:nvSpPr>
          <p:cNvPr id="201" name="Google Shape;201;g32db046479f_7_53"/>
          <p:cNvSpPr/>
          <p:nvPr/>
        </p:nvSpPr>
        <p:spPr>
          <a:xfrm>
            <a:off x="9937790" y="5436037"/>
            <a:ext cx="35151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Integración con Sistemas</a:t>
            </a:r>
            <a:endParaRPr sz="2200" b="0" i="0" u="none" strike="noStrike" cap="none"/>
          </a:p>
        </p:txBody>
      </p:sp>
      <p:pic>
        <p:nvPicPr>
          <p:cNvPr id="202" name="Google Shape;202;g32db046479f_7_5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653" y="2104430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2db046479f_7_53"/>
          <p:cNvSpPr/>
          <p:nvPr/>
        </p:nvSpPr>
        <p:spPr>
          <a:xfrm>
            <a:off x="8145304" y="5467231"/>
            <a:ext cx="1770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sz="2200" b="0" i="0" u="none" strike="noStrike" cap="none"/>
          </a:p>
        </p:txBody>
      </p:sp>
      <p:sp>
        <p:nvSpPr>
          <p:cNvPr id="204" name="Google Shape;204;g32db046479f_7_53"/>
          <p:cNvSpPr/>
          <p:nvPr/>
        </p:nvSpPr>
        <p:spPr>
          <a:xfrm>
            <a:off x="1255157" y="5436037"/>
            <a:ext cx="34374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Informes Personalizados</a:t>
            </a:r>
            <a:endParaRPr sz="2200" b="0" i="0" u="none" strike="noStrike" cap="none"/>
          </a:p>
        </p:txBody>
      </p:sp>
      <p:sp>
        <p:nvSpPr>
          <p:cNvPr id="205" name="Google Shape;205;g32db046479f_7_53"/>
          <p:cNvSpPr/>
          <p:nvPr/>
        </p:nvSpPr>
        <p:spPr>
          <a:xfrm>
            <a:off x="5913477" y="5078730"/>
            <a:ext cx="1887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sz="2200" b="0" i="0" u="none" strike="noStrike" cap="none"/>
          </a:p>
        </p:txBody>
      </p:sp>
      <p:sp>
        <p:nvSpPr>
          <p:cNvPr id="206" name="Google Shape;206;g32db046479f_7_53"/>
          <p:cNvSpPr/>
          <p:nvPr/>
        </p:nvSpPr>
        <p:spPr>
          <a:xfrm>
            <a:off x="793790" y="6924556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Integramos análisis de datos, modelos predictivos y sistemas hospitalarios para entregar informes personalizados.</a:t>
            </a:r>
            <a:endParaRPr sz="1750" b="0" i="0" u="none" strike="noStrike" cap="none"/>
          </a:p>
        </p:txBody>
      </p:sp>
      <p:sp>
        <p:nvSpPr>
          <p:cNvPr id="207" name="Google Shape;207;g32db046479f_7_53"/>
          <p:cNvSpPr/>
          <p:nvPr/>
        </p:nvSpPr>
        <p:spPr>
          <a:xfrm>
            <a:off x="12439875" y="7479000"/>
            <a:ext cx="1943400" cy="6057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Personalizado</PresentationFormat>
  <Paragraphs>89</Paragraphs>
  <Slides>9</Slides>
  <Notes>9</Notes>
  <HiddenSlides>1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Libre Baskerville</vt:lpstr>
      <vt:lpstr>Patrick Hand</vt:lpstr>
      <vt:lpstr>Arial</vt:lpstr>
      <vt:lpstr>Inter</vt:lpstr>
      <vt:lpstr>DM Sans Medium</vt:lpstr>
      <vt:lpstr>Comfortaa</vt:lpstr>
      <vt:lpstr>Calibri</vt:lpstr>
      <vt:lpstr>Platypi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PptxGenJS</dc:creator>
  <cp:lastModifiedBy>Pablo Luberriaga</cp:lastModifiedBy>
  <cp:revision>1</cp:revision>
  <dcterms:created xsi:type="dcterms:W3CDTF">2025-01-29T22:58:56Z</dcterms:created>
  <dcterms:modified xsi:type="dcterms:W3CDTF">2025-02-07T05:15:34Z</dcterms:modified>
</cp:coreProperties>
</file>